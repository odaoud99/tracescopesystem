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73152" cy="539496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914400"/>
            <a:ext cx="914400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78E3A4"/>
                </a:solidFill>
                <a:latin typeface="Aptos"/>
              </a:defRPr>
            </a:pPr>
            <a:r>
              <a:t>TELECOM TRACE ANALYSIS  /  PRODUCT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1463040"/>
            <a:ext cx="9144000" cy="9144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4300" b="1">
                <a:solidFill>
                  <a:srgbClr val="E7EEF6"/>
                </a:solidFill>
                <a:latin typeface="Aptos"/>
              </a:defRPr>
            </a:pPr>
            <a:r>
              <a:t>TraceScope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487168"/>
            <a:ext cx="9144000" cy="7315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9AAABD"/>
                </a:solidFill>
                <a:latin typeface="Aptos"/>
              </a:defRPr>
            </a:pPr>
            <a:r>
              <a:t>From raw network records to an engineer-readable subscriber journey.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474720"/>
            <a:ext cx="8778240" cy="6583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7EEF6"/>
                </a:solidFill>
                <a:latin typeface="Aptos"/>
              </a:defRPr>
            </a:pPr>
            <a:r>
              <a:t>A local-first workbench for LMT user traces, protocol context, and technology-aware network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983480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5074920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5330952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subscriber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5120640"/>
            <a:ext cx="59436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78E3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4983480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1" y="5074920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6" y="5330952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radio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5120640"/>
            <a:ext cx="59436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78E3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4983480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E5B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5074920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5" y="5330952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5120640"/>
            <a:ext cx="59436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78E3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68511" y="4983480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B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5074920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5330952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78E3A4"/>
                </a:solidFill>
                <a:latin typeface="Aptos"/>
              </a:defRPr>
            </a:pPr>
            <a:r>
              <a:t>TRACESCOPE  /  CORE NETWORK TRACE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486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E7EEF6"/>
                </a:solidFill>
                <a:latin typeface="Aptos"/>
              </a:defRPr>
            </a:pPr>
            <a:r>
              <a:t>The trace is evidence. The engineer needs the story.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B3D50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ENGINEER PRODUCT OVERVIEW  ·  05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9672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AAAB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74720" cy="201168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45720" cy="2011680"/>
          </a:xfrm>
          <a:prstGeom prst="rect">
            <a:avLst/>
          </a:prstGeom>
          <a:solidFill>
            <a:srgbClr val="72D8E7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91639"/>
            <a:ext cx="31455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2D8E7"/>
                </a:solidFill>
                <a:latin typeface="Aptos"/>
              </a:defRPr>
            </a:pPr>
            <a:r>
              <a:t>RAW EXPORT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75688"/>
            <a:ext cx="3145536" cy="138988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Binary containers, internal labels, protocol messages, and node positions arrive together.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554480"/>
            <a:ext cx="3474720" cy="201168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554480"/>
            <a:ext cx="45720" cy="2011680"/>
          </a:xfrm>
          <a:prstGeom prst="rect">
            <a:avLst/>
          </a:prstGeom>
          <a:solidFill>
            <a:srgbClr val="E5BA66"/>
          </a:solidFill>
          <a:ln w="12700">
            <a:solidFill>
              <a:srgbClr val="E5B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691639"/>
            <a:ext cx="31455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5BA66"/>
                </a:solidFill>
                <a:latin typeface="Aptos"/>
              </a:defRPr>
            </a:pPr>
            <a:r>
              <a:t>ENGINEERING FRICTION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075688"/>
            <a:ext cx="3145536" cy="138988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Finding the right event and following signaling across technologies takes repeated manual inspection.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554480"/>
            <a:ext cx="3474720" cy="201168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554480"/>
            <a:ext cx="45720" cy="201168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91639"/>
            <a:ext cx="31455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8E3A4"/>
                </a:solidFill>
                <a:latin typeface="Aptos"/>
              </a:defRPr>
            </a:pPr>
            <a:r>
              <a:t>TRACE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75688"/>
            <a:ext cx="3145536" cy="138988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A guided timeline, message inspector, call flow, and infrastructure route keep evidence in one review surface.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069080"/>
            <a:ext cx="10607040" cy="41148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E7EEF6"/>
                </a:solidFill>
                <a:latin typeface="Aptos"/>
              </a:defRPr>
            </a:pPr>
            <a:r>
              <a:t>Make each record easier to locate, read, and relate to its neighbors.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709160"/>
            <a:ext cx="10241280" cy="7772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9AAABD"/>
                </a:solidFill>
                <a:latin typeface="Aptos"/>
              </a:defRPr>
            </a:pPr>
            <a:r>
              <a:t>TraceScope is an analysis aid—not a full vendor dissector or live network inventory. It separates values found in the file from protocol-based interpretation.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78E3A4"/>
                </a:solidFill>
                <a:latin typeface="Aptos"/>
              </a:defRPr>
            </a:pPr>
            <a:r>
              <a:t>TRACESCOPE  /  CORE NETWORK TRACE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486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E7EEF6"/>
                </a:solidFill>
                <a:latin typeface="Aptos"/>
              </a:defRPr>
            </a:pPr>
            <a:r>
              <a:t>One workflow, from import to reviewable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B3D50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ENGINEER PRODUCT OVERVIEW  ·  05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9672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AAAB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2450592" cy="333756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45720" cy="3337560"/>
          </a:xfrm>
          <a:prstGeom prst="rect">
            <a:avLst/>
          </a:prstGeom>
          <a:solidFill>
            <a:srgbClr val="72D8E7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783080"/>
            <a:ext cx="2121408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2D8E7"/>
                </a:solidFill>
                <a:latin typeface="Aptos"/>
              </a:defRPr>
            </a:pPr>
            <a:r>
              <a:t>01 ·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167128"/>
            <a:ext cx="2121408" cy="27157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Open PTMF or supported text trace. Parsing runs in the browser.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971800"/>
            <a:ext cx="347472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78E3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1645920"/>
            <a:ext cx="2450592" cy="333756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3008" y="1645920"/>
            <a:ext cx="45720" cy="333756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783080"/>
            <a:ext cx="2121408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8E3A4"/>
                </a:solidFill>
                <a:latin typeface="Aptos"/>
              </a:defRPr>
            </a:pPr>
            <a:r>
              <a:t>02 ·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167128"/>
            <a:ext cx="2121408" cy="27157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Inspect time, position, message type, direction, and payload boundary.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2971800"/>
            <a:ext cx="347472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78E3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645920"/>
            <a:ext cx="2450592" cy="333756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5936" y="1645920"/>
            <a:ext cx="45720" cy="3337560"/>
          </a:xfrm>
          <a:prstGeom prst="rect">
            <a:avLst/>
          </a:prstGeom>
          <a:solidFill>
            <a:srgbClr val="E5BA66"/>
          </a:solidFill>
          <a:ln w="12700">
            <a:solidFill>
              <a:srgbClr val="E5B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1783080"/>
            <a:ext cx="2121408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5BA66"/>
                </a:solidFill>
                <a:latin typeface="Aptos"/>
              </a:defRPr>
            </a:pPr>
            <a:r>
              <a:t>03 · FOLLOW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167128"/>
            <a:ext cx="2121408" cy="27157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Move through timeline, sequence flow, and technology-aware route.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2971800"/>
            <a:ext cx="347472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78E3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98863" y="1645920"/>
            <a:ext cx="2450592" cy="333756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3" y="1645920"/>
            <a:ext cx="45720" cy="3337560"/>
          </a:xfrm>
          <a:prstGeom prst="rect">
            <a:avLst/>
          </a:prstGeom>
          <a:solidFill>
            <a:srgbClr val="B6A3FF"/>
          </a:solidFill>
          <a:ln w="12700">
            <a:solidFill>
              <a:srgbClr val="B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5" y="1783080"/>
            <a:ext cx="2121408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B6A3FF"/>
                </a:solidFill>
                <a:latin typeface="Aptos"/>
              </a:defRPr>
            </a:pPr>
            <a:r>
              <a:t>04 · 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5" y="2167128"/>
            <a:ext cx="2121408" cy="27157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Read telecom context, consult references, and capture findings.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394960"/>
            <a:ext cx="10058400" cy="3200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9AAABD"/>
                </a:solidFill>
                <a:latin typeface="Aptos"/>
              </a:defRPr>
            </a:pPr>
            <a:r>
              <a:t>Unknown fields remain unknown; no successful procedure is inferred from a request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78E3A4"/>
                </a:solidFill>
                <a:latin typeface="Aptos"/>
              </a:defRPr>
            </a:pPr>
            <a:r>
              <a:t>TRACESCOPE  /  CORE NETWORK TRACE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486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E7EEF6"/>
                </a:solidFill>
                <a:latin typeface="Aptos"/>
              </a:defRPr>
            </a:pPr>
            <a:r>
              <a:t>A message inspector built for telecom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B3D50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ENGINEER PRODUCT OVERVIEW  ·  05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9672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AAAB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6858000" cy="4526280"/>
          </a:xfrm>
          <a:prstGeom prst="roundRect">
            <a:avLst/>
          </a:prstGeom>
          <a:solidFill>
            <a:srgbClr val="0E1925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457200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72D8E7"/>
                </a:solidFill>
                <a:latin typeface="Aptos"/>
              </a:defRPr>
            </a:pPr>
            <a:r>
              <a:t>MESSAGE 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2057400"/>
            <a:ext cx="6309360" cy="576072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148840"/>
            <a:ext cx="132588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AAABD"/>
                </a:solidFill>
                <a:latin typeface="Aptos"/>
              </a:defRPr>
            </a:pPr>
            <a:r>
              <a:t>16:13:04.395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130552"/>
            <a:ext cx="448056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7EEF6"/>
                </a:solidFill>
                <a:latin typeface="Aptos"/>
              </a:defRPr>
            </a:pPr>
            <a:r>
              <a:t>SGsAP-PAGING-REQUEST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368296"/>
            <a:ext cx="448056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E5BA66"/>
                </a:solidFill>
                <a:latin typeface="Aptos"/>
              </a:defRPr>
            </a:pPr>
            <a:r>
              <a:t>MSC → MME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816352"/>
            <a:ext cx="6309360" cy="576072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2907792"/>
            <a:ext cx="132588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AAABD"/>
                </a:solidFill>
                <a:latin typeface="Aptos"/>
              </a:defRPr>
            </a:pPr>
            <a:r>
              <a:t>16:13:04.402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2889504"/>
            <a:ext cx="448056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7EEF6"/>
                </a:solidFill>
                <a:latin typeface="Aptos"/>
              </a:defRPr>
            </a:pPr>
            <a:r>
              <a:t>S1AP · PAGING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127248"/>
            <a:ext cx="448056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72D8E7"/>
                </a:solidFill>
                <a:latin typeface="Aptos"/>
              </a:defRPr>
            </a:pPr>
            <a:r>
              <a:t>MME → eNodeB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3575304"/>
            <a:ext cx="6309360" cy="576072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666744"/>
            <a:ext cx="132588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AAABD"/>
                </a:solidFill>
                <a:latin typeface="Aptos"/>
              </a:defRPr>
            </a:pPr>
            <a:r>
              <a:t>16:13:04.671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3648456"/>
            <a:ext cx="448056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7EEF6"/>
                </a:solidFill>
                <a:latin typeface="Aptos"/>
              </a:defRPr>
            </a:pPr>
            <a:r>
              <a:t>EXTENDED SERVICE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3886200"/>
            <a:ext cx="448056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78E3A4"/>
                </a:solidFill>
                <a:latin typeface="Aptos"/>
              </a:defRPr>
            </a:pPr>
            <a:r>
              <a:t>UE → MME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334256"/>
            <a:ext cx="6309360" cy="576072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4425696"/>
            <a:ext cx="132588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9AAABD"/>
                </a:solidFill>
                <a:latin typeface="Aptos"/>
              </a:defRPr>
            </a:pPr>
            <a:r>
              <a:t>16:13:04.672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4407408"/>
            <a:ext cx="448056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7EEF6"/>
                </a:solidFill>
                <a:latin typeface="Aptos"/>
              </a:defRPr>
            </a:pPr>
            <a:r>
              <a:t>MM_SGSAP_SERVICE_REQ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95728" y="4645152"/>
            <a:ext cx="448056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B6A3FF"/>
                </a:solidFill>
                <a:latin typeface="Aptos"/>
              </a:defRPr>
            </a:pPr>
            <a:r>
              <a:t>Internal · vendor label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1417320"/>
            <a:ext cx="3703320" cy="196596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8120" y="1417320"/>
            <a:ext cx="45720" cy="1965960"/>
          </a:xfrm>
          <a:prstGeom prst="rect">
            <a:avLst/>
          </a:prstGeom>
          <a:solidFill>
            <a:srgbClr val="72D8E7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82712" y="1554480"/>
            <a:ext cx="33741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2D8E7"/>
                </a:solidFill>
                <a:latin typeface="Aptos"/>
              </a:defRPr>
            </a:pPr>
            <a:r>
              <a:t>OBSERVED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1938528"/>
            <a:ext cx="3374136" cy="1344167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Timestamp · node/LMT · direction if decoded · property · type/code · size · offset · bytes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3611880"/>
            <a:ext cx="3703320" cy="233172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18120" y="3611880"/>
            <a:ext cx="45720" cy="233172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2712" y="3749040"/>
            <a:ext cx="33741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8E3A4"/>
                </a:solidFill>
                <a:latin typeface="Aptos"/>
              </a:defRPr>
            </a:pPr>
            <a:r>
              <a:t>TELECOM KNOWLEDGE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2712" y="4133088"/>
            <a:ext cx="3374136" cy="1709927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Plain-language message role, basis, and 3GPP reference appear beside the selected record. Explanations state what the message alone cannot prove.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78E3A4"/>
                </a:solidFill>
                <a:latin typeface="Aptos"/>
              </a:defRPr>
            </a:pPr>
            <a:r>
              <a:t>TRACESCOPE  /  CORE NETWORK TRACE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486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E7EEF6"/>
                </a:solidFill>
                <a:latin typeface="Aptos"/>
              </a:defRPr>
            </a:pPr>
            <a:r>
              <a:t>Follow the route across the detected 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B3D50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ENGINEER PRODUCT OVERVIEW  ·  05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9672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AAAB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18488"/>
            <a:ext cx="640080" cy="25603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2D8E7"/>
                </a:solidFill>
                <a:latin typeface="Aptos"/>
              </a:defRPr>
            </a:pPr>
            <a:r>
              <a:t>2G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417320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508760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2184" y="1764792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581912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72D8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1417320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8144" y="1508760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BTS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1764792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1581912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72D8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67528" y="1417320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3248" y="1508760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BSC / PCU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1764792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22008" y="1581912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72D8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2632" y="1417320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508760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MSC / SGSN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1764792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1581912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72D8E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7736" y="1417320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456" y="1508760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GGSN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1764792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551176"/>
            <a:ext cx="640080" cy="25603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8E3A4"/>
                </a:solidFill>
                <a:latin typeface="Aptos"/>
              </a:defRPr>
            </a:pPr>
            <a:r>
              <a:t>3G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2350008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2441448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72184" y="2697480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2514600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78E3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92424" y="2350008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38144" y="2441448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Node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7288" y="2697480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46904" y="2514600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78E3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67528" y="2350008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13248" y="2441448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RNC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2392" y="2697480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2514600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78E3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42632" y="2350008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88352" y="2441448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SGSN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7496" y="2697480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97112" y="2514600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78E3A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17736" y="2350008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63456" y="2441448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GGSN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2697480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3483864"/>
            <a:ext cx="640080" cy="25603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5BA66"/>
                </a:solidFill>
                <a:latin typeface="Aptos"/>
              </a:defRPr>
            </a:pPr>
            <a:r>
              <a:t>4G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17320" y="3282696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E5B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63040" y="3374136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72184" y="363016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3447288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E5BA6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92424" y="3282696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E5B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38144" y="3374136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eNodeB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47288" y="363016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46904" y="3447288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E5BA6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67528" y="3282696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E5B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13248" y="3374136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MME / SGW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22392" y="363016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22008" y="3447288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E5BA6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42632" y="3282696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E5B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88352" y="3374136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PGW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97496" y="363016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97112" y="3447288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E5BA6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317736" y="3282696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E5B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63456" y="3374136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PDN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72600" y="3630168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4416552"/>
            <a:ext cx="640080" cy="25603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6A3FF"/>
                </a:solidFill>
                <a:latin typeface="Aptos"/>
              </a:defRPr>
            </a:pPr>
            <a:r>
              <a:t>5G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17320" y="4215384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B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63040" y="4306824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72184" y="4562856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71800" y="4379976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B6A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392424" y="4215384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B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38144" y="4306824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gNodeB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47288" y="4562856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46904" y="4379976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B6A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367528" y="4215384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B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13248" y="4306824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AMF / SMF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22392" y="4562856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22008" y="4379976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B6A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342632" y="4215384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B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88352" y="4306824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UPF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97496" y="4562856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97112" y="4379976"/>
            <a:ext cx="365760" cy="22860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B6A3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317736" y="4215384"/>
            <a:ext cx="1481328" cy="621792"/>
          </a:xfrm>
          <a:prstGeom prst="roundRect">
            <a:avLst/>
          </a:prstGeom>
          <a:solidFill>
            <a:srgbClr val="172638"/>
          </a:solidFill>
          <a:ln w="12700">
            <a:solidFill>
              <a:srgbClr val="B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363456" y="4306824"/>
            <a:ext cx="1389888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E7EEF6"/>
                </a:solidFill>
                <a:latin typeface="Aptos"/>
              </a:defRPr>
            </a:pPr>
            <a:r>
              <a:t>DN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72600" y="4562856"/>
            <a:ext cx="13716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reference component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1520" y="5431536"/>
            <a:ext cx="4663440" cy="25603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78E3A4"/>
                </a:solidFill>
                <a:latin typeface="Aptos"/>
              </a:defRPr>
            </a:pPr>
            <a:r>
              <a:t>Green = observed match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17720" y="5431536"/>
            <a:ext cx="6217920" cy="25603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E5BA66"/>
                </a:solidFill>
                <a:latin typeface="Aptos"/>
              </a:defRPr>
            </a:pPr>
            <a:r>
              <a:t>Gold dashed links in the app = inferred standard topology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78E3A4"/>
                </a:solidFill>
                <a:latin typeface="Aptos"/>
              </a:defRPr>
            </a:pPr>
            <a:r>
              <a:t>TRACESCOPE  /  CORE NETWORK TRACE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486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E7EEF6"/>
                </a:solidFill>
                <a:latin typeface="Aptos"/>
              </a:defRPr>
            </a:pPr>
            <a:r>
              <a:t>Keep the evidence boundary visible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B3D50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ENGINEER PRODUCT OVERVIEW  ·  05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9672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AAAB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74720" cy="338328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45720" cy="338328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91639"/>
            <a:ext cx="31455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8E3A4"/>
                </a:solidFill>
                <a:latin typeface="Aptos"/>
              </a:defRPr>
            </a:pPr>
            <a:r>
              <a:t>OBSERVED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75688"/>
            <a:ext cx="3145536" cy="276148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Values read from record containers or explicit endpoints: timestamp, position, type/code, length, and available direction.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554480"/>
            <a:ext cx="3474720" cy="338328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554480"/>
            <a:ext cx="45720" cy="3383280"/>
          </a:xfrm>
          <a:prstGeom prst="rect">
            <a:avLst/>
          </a:prstGeom>
          <a:solidFill>
            <a:srgbClr val="E5BA66"/>
          </a:solidFill>
          <a:ln w="12700">
            <a:solidFill>
              <a:srgbClr val="E5B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691639"/>
            <a:ext cx="31455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5BA66"/>
                </a:solidFill>
                <a:latin typeface="Aptos"/>
              </a:defRPr>
            </a:pPr>
            <a:r>
              <a:t>MAPPED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075688"/>
            <a:ext cx="3145536" cy="276148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Known signatures associate a record with a likely technology or route segment. The UI labels these associations as observed or inferred.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554480"/>
            <a:ext cx="3474720" cy="338328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554480"/>
            <a:ext cx="45720" cy="3383280"/>
          </a:xfrm>
          <a:prstGeom prst="rect">
            <a:avLst/>
          </a:prstGeom>
          <a:solidFill>
            <a:srgbClr val="72D8E7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91639"/>
            <a:ext cx="31455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2D8E7"/>
                </a:solidFill>
                <a:latin typeface="Aptos"/>
              </a:defRPr>
            </a:pPr>
            <a:r>
              <a:t>EXPLAINED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75688"/>
            <a:ext cx="3145536" cy="276148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Message knowledge describes the protocol role and states when a response, cause code, or decoded information element is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5367528"/>
            <a:ext cx="10058400" cy="36576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7EEF6"/>
                </a:solidFill>
                <a:latin typeface="Aptos"/>
              </a:defRPr>
            </a:pPr>
            <a:r>
              <a:t>A request is not proof of success. A vendor-internal label is not a decoded information element.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78E3A4"/>
                </a:solidFill>
                <a:latin typeface="Aptos"/>
              </a:defRPr>
            </a:pPr>
            <a:r>
              <a:t>TRACESCOPE  /  CORE NETWORK TRACE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486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E7EEF6"/>
                </a:solidFill>
                <a:latin typeface="Aptos"/>
              </a:defRPr>
            </a:pPr>
            <a:r>
              <a:t>Engineer tools with explicit data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B3D50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ENGINEER PRODUCT OVERVIEW  ·  05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9672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AAAB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474720" cy="352044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45720" cy="3520440"/>
          </a:xfrm>
          <a:prstGeom prst="rect">
            <a:avLst/>
          </a:prstGeom>
          <a:solidFill>
            <a:srgbClr val="72D8E7"/>
          </a:solidFill>
          <a:ln w="12700">
            <a:solidFill>
              <a:srgbClr val="72D8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45919"/>
            <a:ext cx="31455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2D8E7"/>
                </a:solidFill>
                <a:latin typeface="Aptos"/>
              </a:defRPr>
            </a:pPr>
            <a:r>
              <a:t>AI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29967"/>
            <a:ext cx="3145536" cy="289864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Text and browser-supported voice</a:t>
            </a:r>
          </a:p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Trace-grounded questions with record citations</a:t>
            </a:r>
          </a:p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Local viewer commands stay local</a:t>
            </a:r>
          </a:p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NVIDIA GLM-5.3 via local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508760"/>
            <a:ext cx="3474720" cy="352044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1508760"/>
            <a:ext cx="45720" cy="352044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645919"/>
            <a:ext cx="31455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8E3A4"/>
                </a:solidFill>
                <a:latin typeface="Aptos"/>
              </a:defRPr>
            </a:pPr>
            <a:r>
              <a:t>RESEARCH 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7"/>
            <a:ext cx="3145536" cy="289864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Explicit Huawei-focused Tavily search</a:t>
            </a:r>
          </a:p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Huawei-domain filter</a:t>
            </a:r>
          </a:p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Saved sources and documents in browser 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508760"/>
            <a:ext cx="3474720" cy="3520440"/>
          </a:xfrm>
          <a:prstGeom prst="roundRect">
            <a:avLst/>
          </a:prstGeom>
          <a:solidFill>
            <a:srgbClr val="121F2E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508760"/>
            <a:ext cx="45720" cy="3520440"/>
          </a:xfrm>
          <a:prstGeom prst="rect">
            <a:avLst/>
          </a:prstGeom>
          <a:solidFill>
            <a:srgbClr val="B6A3FF"/>
          </a:solidFill>
          <a:ln w="12700">
            <a:solidFill>
              <a:srgbClr val="B6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45919"/>
            <a:ext cx="3145536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B6A3FF"/>
                </a:solidFill>
                <a:latin typeface="Aptos"/>
              </a:defRPr>
            </a:pPr>
            <a:r>
              <a:t>AUDIT &amp;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29967"/>
            <a:ext cx="3145536" cy="289864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Activities separated from why/decisions</a:t>
            </a:r>
          </a:p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Browser-local audit trail</a:t>
            </a:r>
          </a:p>
          <a:p>
            <a:pPr>
              <a:spcAft>
                <a:spcPts val="600"/>
              </a:spcAft>
              <a:defRPr sz="1100" b="0">
                <a:solidFill>
                  <a:srgbClr val="E7EEF6"/>
                </a:solidFill>
                <a:latin typeface="Aptos"/>
              </a:defRPr>
            </a:pPr>
            <a:r>
              <a:t>Trace and audit JSON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413248"/>
            <a:ext cx="10058400" cy="29260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5BA66"/>
                </a:solidFill>
                <a:latin typeface="Aptos"/>
              </a:defRPr>
            </a:pPr>
            <a:r>
              <a:t>Selected trace context is sent to NVIDIA when asking AI questions. Web research is user-triggered.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8E3A4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10058400" cy="219456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78E3A4"/>
                </a:solidFill>
                <a:latin typeface="Aptos"/>
              </a:defRPr>
            </a:pPr>
            <a:r>
              <a:t>TRACESCOPE  /  CORE NETWORK TRACE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4864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E7EEF6"/>
                </a:solidFill>
                <a:latin typeface="Aptos"/>
              </a:defRPr>
            </a:pPr>
            <a:r>
              <a:t>A practical engineer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2B3D50"/>
          </a:solidFill>
          <a:ln w="12700">
            <a:solidFill>
              <a:srgbClr val="2B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37960"/>
            <a:ext cx="10058400" cy="16459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9AAABD"/>
                </a:solidFill>
                <a:latin typeface="Aptos"/>
              </a:defRPr>
            </a:pPr>
            <a:r>
              <a:t>ENGINEER PRODUCT OVERVIEW  ·  05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9672"/>
            <a:ext cx="457200" cy="20116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9AAAB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17320"/>
            <a:ext cx="438912" cy="411480"/>
          </a:xfrm>
          <a:prstGeom prst="ellipse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438912" cy="21031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78E3A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3172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7EEF6"/>
                </a:solidFill>
                <a:latin typeface="Aptos"/>
              </a:defRPr>
            </a:pPr>
            <a:r>
              <a:t>Import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1417320"/>
            <a:ext cx="7132320" cy="38404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9AAABD"/>
                </a:solidFill>
                <a:latin typeface="Aptos"/>
              </a:defRPr>
            </a:pPr>
            <a:r>
              <a:t>Confirm record count, timestamp range, and detected technologies.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176272"/>
            <a:ext cx="438912" cy="411480"/>
          </a:xfrm>
          <a:prstGeom prst="ellipse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49424"/>
            <a:ext cx="438912" cy="21031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78E3A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76272"/>
            <a:ext cx="233172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7EEF6"/>
                </a:solidFill>
                <a:latin typeface="Aptos"/>
              </a:defRPr>
            </a:pPr>
            <a:r>
              <a:t>Locate a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2176272"/>
            <a:ext cx="7132320" cy="38404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9AAABD"/>
                </a:solidFill>
                <a:latin typeface="Aptos"/>
              </a:defRPr>
            </a:pPr>
            <a:r>
              <a:t>Search by record number, protocol, type, or node.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935224"/>
            <a:ext cx="438912" cy="411480"/>
          </a:xfrm>
          <a:prstGeom prst="ellipse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008376"/>
            <a:ext cx="438912" cy="21031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78E3A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35224"/>
            <a:ext cx="233172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7EEF6"/>
                </a:solidFill>
                <a:latin typeface="Aptos"/>
              </a:defRPr>
            </a:pPr>
            <a:r>
              <a:t>Inspect the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1" y="2935224"/>
            <a:ext cx="7132320" cy="38404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9AAABD"/>
                </a:solidFill>
                <a:latin typeface="Aptos"/>
              </a:defRPr>
            </a:pPr>
            <a:r>
              <a:t>Read fields, telecom information, basis, and raw bytes.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694176"/>
            <a:ext cx="438912" cy="411480"/>
          </a:xfrm>
          <a:prstGeom prst="ellipse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67328"/>
            <a:ext cx="438912" cy="21031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78E3A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94176"/>
            <a:ext cx="233172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7EEF6"/>
                </a:solidFill>
                <a:latin typeface="Aptos"/>
              </a:defRPr>
            </a:pPr>
            <a:r>
              <a:t>Follow the procedure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3694176"/>
            <a:ext cx="7132320" cy="38404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9AAABD"/>
                </a:solidFill>
                <a:latin typeface="Aptos"/>
              </a:defRPr>
            </a:pPr>
            <a:r>
              <a:t>Open Call flow or Network path; step or animate.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453128"/>
            <a:ext cx="438912" cy="411480"/>
          </a:xfrm>
          <a:prstGeom prst="ellipse">
            <a:avLst/>
          </a:prstGeom>
          <a:solidFill>
            <a:srgbClr val="172638"/>
          </a:solidFill>
          <a:ln w="12700">
            <a:solidFill>
              <a:srgbClr val="78E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80"/>
            <a:ext cx="438912" cy="210312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 algn="ctr">
              <a:spcAft>
                <a:spcPts val="600"/>
              </a:spcAft>
              <a:defRPr sz="1000" b="1">
                <a:solidFill>
                  <a:srgbClr val="78E3A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453128"/>
            <a:ext cx="2331720" cy="274320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7EEF6"/>
                </a:solidFill>
                <a:latin typeface="Aptos"/>
              </a:defRPr>
            </a:pPr>
            <a:r>
              <a:t>Capture findings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2191" y="4453128"/>
            <a:ext cx="7132320" cy="38404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9AAABD"/>
                </a:solidFill>
                <a:latin typeface="Aptos"/>
              </a:defRPr>
            </a:pPr>
            <a:r>
              <a:t>Ask a question, check the audit trail, export JSON.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32120"/>
            <a:ext cx="10058400" cy="384048"/>
          </a:xfrm>
          <a:prstGeom prst="rect">
            <a:avLst/>
          </a:prstGeom>
          <a:noFill/>
        </p:spPr>
        <p:txBody>
          <a:bodyPr wrap="square" lIns="36576" rIns="36576" tIns="27432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E5BA66"/>
                </a:solidFill>
                <a:latin typeface="Aptos"/>
              </a:defRPr>
            </a:pPr>
            <a:r>
              <a:t>Validate conclusions with a qualified dissector, applicable 3GPP release, and network-side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